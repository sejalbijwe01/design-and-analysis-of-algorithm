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rchivo Black" panose="020B0604020202020204" charset="0"/>
      <p:regular r:id="rId13"/>
    </p:embeddedFont>
    <p:embeddedFont>
      <p:font typeface="JetBrains Mono" panose="020B0604020202020204" charset="0"/>
      <p:regular r:id="rId14"/>
    </p:embeddedFont>
    <p:embeddedFont>
      <p:font typeface="JetBrains Mono Bold" panose="020B0604020202020204" charset="0"/>
      <p:regular r:id="rId15"/>
    </p:embeddedFont>
    <p:embeddedFont>
      <p:font typeface="Liter" panose="020B0604020202020204" charset="0"/>
      <p:regular r:id="rId16"/>
    </p:embeddedFont>
    <p:embeddedFont>
      <p:font typeface="Public Sans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354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0917200">
            <a:off x="7891662" y="927100"/>
            <a:ext cx="2059730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3" name="Shape 1"/>
          <p:cNvSpPr/>
          <p:nvPr/>
        </p:nvSpPr>
        <p:spPr>
          <a:xfrm rot="2323800">
            <a:off x="9741450" y="1263650"/>
            <a:ext cx="1725470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4" name="Shape 2"/>
          <p:cNvSpPr/>
          <p:nvPr/>
        </p:nvSpPr>
        <p:spPr>
          <a:xfrm rot="3918000">
            <a:off x="7354505" y="2000250"/>
            <a:ext cx="1914973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5" name="Shape 3"/>
          <p:cNvSpPr/>
          <p:nvPr/>
        </p:nvSpPr>
        <p:spPr>
          <a:xfrm rot="4449600">
            <a:off x="8865868" y="2133598"/>
            <a:ext cx="2930650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6" name="Shape 4"/>
          <p:cNvSpPr/>
          <p:nvPr/>
        </p:nvSpPr>
        <p:spPr>
          <a:xfrm rot="17222400">
            <a:off x="10088111" y="2673350"/>
            <a:ext cx="1819726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7" name="Shape 5"/>
          <p:cNvSpPr/>
          <p:nvPr/>
        </p:nvSpPr>
        <p:spPr>
          <a:xfrm rot="18709200">
            <a:off x="7375440" y="3473450"/>
            <a:ext cx="1618912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8" name="Shape 6"/>
          <p:cNvSpPr/>
          <p:nvPr/>
        </p:nvSpPr>
        <p:spPr>
          <a:xfrm rot="4103400">
            <a:off x="8038703" y="3879847"/>
            <a:ext cx="2171943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9" name="Shape 7"/>
          <p:cNvSpPr/>
          <p:nvPr/>
        </p:nvSpPr>
        <p:spPr>
          <a:xfrm rot="18712200">
            <a:off x="9224136" y="4216400"/>
            <a:ext cx="1807621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0" name="Shape 8"/>
          <p:cNvSpPr/>
          <p:nvPr/>
        </p:nvSpPr>
        <p:spPr>
          <a:xfrm rot="4218000">
            <a:off x="10069559" y="4483099"/>
            <a:ext cx="1996331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1" name="Shape 9"/>
          <p:cNvSpPr/>
          <p:nvPr/>
        </p:nvSpPr>
        <p:spPr>
          <a:xfrm rot="1383600">
            <a:off x="7563653" y="4476751"/>
            <a:ext cx="2042665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2" name="Shape 10"/>
          <p:cNvSpPr/>
          <p:nvPr/>
        </p:nvSpPr>
        <p:spPr>
          <a:xfrm rot="4449600">
            <a:off x="6935017" y="5016503"/>
            <a:ext cx="1953668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3" name="Shape 11"/>
          <p:cNvSpPr/>
          <p:nvPr/>
        </p:nvSpPr>
        <p:spPr>
          <a:xfrm rot="950400">
            <a:off x="9487655" y="5156201"/>
            <a:ext cx="1953668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4" name="Shape 12"/>
          <p:cNvSpPr/>
          <p:nvPr/>
        </p:nvSpPr>
        <p:spPr>
          <a:xfrm rot="19276200">
            <a:off x="7988894" y="5429250"/>
            <a:ext cx="1725470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5" name="Shape 13"/>
          <p:cNvSpPr/>
          <p:nvPr/>
        </p:nvSpPr>
        <p:spPr>
          <a:xfrm rot="3447600">
            <a:off x="9120952" y="5626100"/>
            <a:ext cx="1747298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6" name="Shape 14"/>
          <p:cNvSpPr/>
          <p:nvPr/>
        </p:nvSpPr>
        <p:spPr>
          <a:xfrm rot="18900000">
            <a:off x="10269975" y="5892800"/>
            <a:ext cx="1329002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7" name="Shape 15"/>
          <p:cNvSpPr/>
          <p:nvPr/>
        </p:nvSpPr>
        <p:spPr>
          <a:xfrm rot="604800">
            <a:off x="8160637" y="6159500"/>
            <a:ext cx="2321661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8" name="Shape 16"/>
          <p:cNvSpPr/>
          <p:nvPr/>
        </p:nvSpPr>
        <p:spPr>
          <a:xfrm>
            <a:off x="7734107" y="9652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53356" y="5588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99522" y="16383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6886" y="27051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53436" y="33782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67413" y="39243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46966" y="47244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26519" y="52578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3500" y="58039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86743" y="61976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1981" y="936642"/>
            <a:ext cx="6648284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AND ANALYSIS OF ALGORITHMS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8826" y="1315487"/>
            <a:ext cx="6603835" cy="1679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8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Kruskal's</a:t>
            </a:r>
            <a:endParaRPr lang="en-US" sz="58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58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Algorithm</a:t>
            </a:r>
            <a:endParaRPr lang="en-US" sz="5800" dirty="0"/>
          </a:p>
        </p:txBody>
      </p:sp>
      <p:sp>
        <p:nvSpPr>
          <p:cNvPr id="30" name="Shape 28"/>
          <p:cNvSpPr/>
          <p:nvPr/>
        </p:nvSpPr>
        <p:spPr>
          <a:xfrm flipV="1">
            <a:off x="698826" y="5600700"/>
            <a:ext cx="4167175" cy="45719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2" name="Shape 30"/>
          <p:cNvSpPr/>
          <p:nvPr/>
        </p:nvSpPr>
        <p:spPr>
          <a:xfrm rot="7800">
            <a:off x="761981" y="5943600"/>
            <a:ext cx="5587860" cy="12700"/>
          </a:xfrm>
          <a:prstGeom prst="rect">
            <a:avLst/>
          </a:prstGeom>
          <a:solidFill>
            <a:srgbClr val="2E3644"/>
          </a:solidFill>
          <a:ln/>
        </p:spPr>
      </p:sp>
      <p:sp>
        <p:nvSpPr>
          <p:cNvPr id="33" name="Text 31"/>
          <p:cNvSpPr/>
          <p:nvPr/>
        </p:nvSpPr>
        <p:spPr>
          <a:xfrm>
            <a:off x="761981" y="6110605"/>
            <a:ext cx="1035807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100" spc="15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CONCEPT  ·  PSEUDOCODE  ·  WORKED EXAMPLE  ·  UNION-FIND  ·  COMPLEXITY</a:t>
            </a:r>
            <a:endParaRPr 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2B2F6F-A6D6-B928-7202-1B2743006EC5}"/>
              </a:ext>
            </a:extLst>
          </p:cNvPr>
          <p:cNvSpPr txBox="1"/>
          <p:nvPr/>
        </p:nvSpPr>
        <p:spPr>
          <a:xfrm>
            <a:off x="761973" y="3524071"/>
            <a:ext cx="3698060" cy="1200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Name : Sejal </a:t>
            </a:r>
            <a:r>
              <a:rPr lang="en-US" dirty="0" err="1"/>
              <a:t>Bijwe</a:t>
            </a:r>
            <a:endParaRPr lang="en-US" dirty="0"/>
          </a:p>
          <a:p>
            <a:r>
              <a:rPr lang="en-US" dirty="0"/>
              <a:t>PRN : 25070521042</a:t>
            </a:r>
          </a:p>
          <a:p>
            <a:r>
              <a:rPr lang="en-US" dirty="0"/>
              <a:t>Section :A</a:t>
            </a:r>
          </a:p>
          <a:p>
            <a:r>
              <a:rPr lang="en-US" dirty="0"/>
              <a:t>AI Used : Gamma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9442214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 ALGORITHMS · GREEDY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58027"/>
            <a:ext cx="10915377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Why — connect everything at the lowest cost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34984" y="1346200"/>
            <a:ext cx="711182" cy="508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9903768" y="6509258"/>
            <a:ext cx="1621095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879600"/>
            <a:ext cx="330192" cy="330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7572" y="1905000"/>
            <a:ext cx="487032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scenario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9585" y="2451695"/>
            <a:ext cx="5276718" cy="1322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 towns need a fiber-optic network. Digging a cable trench between two towns costs money — the numbers on the links. The goal: every town reachable from every other, total digging cost as small as possible.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 rot="8400">
            <a:off x="609585" y="3810000"/>
            <a:ext cx="5333867" cy="12700"/>
          </a:xfrm>
          <a:prstGeom prst="rect">
            <a:avLst/>
          </a:prstGeom>
          <a:solidFill>
            <a:srgbClr val="2E3644"/>
          </a:solidFill>
          <a:ln/>
        </p:spPr>
      </p:sp>
      <p:sp>
        <p:nvSpPr>
          <p:cNvPr id="10" name="Text 7"/>
          <p:cNvSpPr/>
          <p:nvPr/>
        </p:nvSpPr>
        <p:spPr>
          <a:xfrm>
            <a:off x="609585" y="4038600"/>
            <a:ext cx="487032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terms to fix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9585" y="4451152"/>
            <a:ext cx="527671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Spanning tree</a:t>
            </a:r>
            <a:r>
              <a:rPr lang="en-US" sz="14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 subgraph that connects all </a:t>
            </a:r>
            <a:r>
              <a:rPr lang="en-US" sz="14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</a:t>
            </a:r>
            <a:r>
              <a:rPr lang="en-US" sz="14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vertices with exactly </a:t>
            </a:r>
            <a:r>
              <a:rPr lang="en-US" sz="14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 − 1</a:t>
            </a:r>
            <a:r>
              <a:rPr lang="en-US" sz="14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edges and no cycles.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09585" y="5314752"/>
            <a:ext cx="527671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Minimum spanning tree (MST)</a:t>
            </a:r>
            <a:r>
              <a:rPr lang="en-US" sz="14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among all spanning trees, the one whose total edge weight is smallest.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 rot="5389800">
            <a:off x="4298846" y="3930647"/>
            <a:ext cx="4317892" cy="12700"/>
          </a:xfrm>
          <a:prstGeom prst="rect">
            <a:avLst/>
          </a:prstGeom>
          <a:solidFill>
            <a:srgbClr val="2E3644"/>
          </a:solidFill>
          <a:ln/>
        </p:spPr>
      </p:sp>
      <p:sp>
        <p:nvSpPr>
          <p:cNvPr id="14" name="Text 11"/>
          <p:cNvSpPr/>
          <p:nvPr/>
        </p:nvSpPr>
        <p:spPr>
          <a:xfrm>
            <a:off x="7061023" y="1866900"/>
            <a:ext cx="507352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MAKES A TREE A TREE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 rot="17978400">
            <a:off x="7596097" y="2705100"/>
            <a:ext cx="847406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6" name="Shape 13"/>
          <p:cNvSpPr/>
          <p:nvPr/>
        </p:nvSpPr>
        <p:spPr>
          <a:xfrm rot="3621600">
            <a:off x="8015186" y="2705100"/>
            <a:ext cx="847406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7" name="Shape 14"/>
          <p:cNvSpPr/>
          <p:nvPr/>
        </p:nvSpPr>
        <p:spPr>
          <a:xfrm rot="17014200">
            <a:off x="7342500" y="3441700"/>
            <a:ext cx="757715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8" name="Shape 15"/>
          <p:cNvSpPr/>
          <p:nvPr/>
        </p:nvSpPr>
        <p:spPr>
          <a:xfrm rot="4474800">
            <a:off x="7529820" y="3441700"/>
            <a:ext cx="764064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9" name="Shape 16"/>
          <p:cNvSpPr/>
          <p:nvPr/>
        </p:nvSpPr>
        <p:spPr>
          <a:xfrm rot="5340600">
            <a:off x="8286543" y="3441700"/>
            <a:ext cx="736681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20" name="Shape 17"/>
          <p:cNvSpPr/>
          <p:nvPr/>
        </p:nvSpPr>
        <p:spPr>
          <a:xfrm>
            <a:off x="8064298" y="21844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45209" y="29210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83388" y="29210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67413" y="36449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848404" y="36449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83388" y="36449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17978400">
            <a:off x="10186832" y="2705100"/>
            <a:ext cx="847406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27" name="Shape 24"/>
          <p:cNvSpPr/>
          <p:nvPr/>
        </p:nvSpPr>
        <p:spPr>
          <a:xfrm rot="3621600">
            <a:off x="10605921" y="2705100"/>
            <a:ext cx="847406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28" name="Shape 25"/>
          <p:cNvSpPr/>
          <p:nvPr/>
        </p:nvSpPr>
        <p:spPr>
          <a:xfrm rot="17014200">
            <a:off x="9933235" y="3441700"/>
            <a:ext cx="757715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29" name="Shape 26"/>
          <p:cNvSpPr/>
          <p:nvPr/>
        </p:nvSpPr>
        <p:spPr>
          <a:xfrm rot="4474800">
            <a:off x="10120556" y="3441700"/>
            <a:ext cx="764064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30" name="Shape 27"/>
          <p:cNvSpPr/>
          <p:nvPr/>
        </p:nvSpPr>
        <p:spPr>
          <a:xfrm rot="5340600">
            <a:off x="10877278" y="3441700"/>
            <a:ext cx="736681" cy="25400"/>
          </a:xfrm>
          <a:prstGeom prst="rect">
            <a:avLst/>
          </a:prstGeom>
          <a:solidFill>
            <a:srgbClr val="4A5265"/>
          </a:solidFill>
          <a:ln/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3200">
            <a:off x="10223244" y="3813175"/>
            <a:ext cx="1016074" cy="3175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10439139" y="36449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4A5265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0655033" y="21844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4A5265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0235944" y="29210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4A5265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1074123" y="29210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4A5265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0058148" y="36449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4A5265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1074123" y="3644900"/>
            <a:ext cx="342891" cy="3429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4A5265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629234" y="4205784"/>
            <a:ext cx="302252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98A1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tree: 6 vertices, 5 edges, 0 cycles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9524762" y="4205784"/>
            <a:ext cx="2412940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98A1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extra edge creates a cycle — and adds cost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 rot="9600">
            <a:off x="7061023" y="4902200"/>
            <a:ext cx="4521087" cy="12700"/>
          </a:xfrm>
          <a:prstGeom prst="rect">
            <a:avLst/>
          </a:prstGeom>
          <a:solidFill>
            <a:srgbClr val="2E3644"/>
          </a:solidFill>
          <a:ln/>
        </p:spPr>
      </p:sp>
      <p:sp>
        <p:nvSpPr>
          <p:cNvPr id="41" name="Text 37"/>
          <p:cNvSpPr/>
          <p:nvPr/>
        </p:nvSpPr>
        <p:spPr>
          <a:xfrm>
            <a:off x="7061023" y="5193010"/>
            <a:ext cx="4521087" cy="104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300" dirty="0">
                <a:solidFill>
                  <a:srgbClr val="3EC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3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exactly one path between any two vertices</a:t>
            </a:r>
            <a:endParaRPr lang="en-US" sz="1300" dirty="0"/>
          </a:p>
          <a:p>
            <a:pPr marL="0" indent="0" algn="l">
              <a:lnSpc>
                <a:spcPct val="175000"/>
              </a:lnSpc>
              <a:buNone/>
            </a:pPr>
            <a:r>
              <a:rPr lang="en-US" sz="1300" dirty="0">
                <a:solidFill>
                  <a:srgbClr val="3EC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3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removing any edge disconnects the graph</a:t>
            </a:r>
            <a:endParaRPr lang="en-US" sz="1300" dirty="0"/>
          </a:p>
          <a:p>
            <a:pPr marL="0" indent="0" algn="l">
              <a:lnSpc>
                <a:spcPct val="175000"/>
              </a:lnSpc>
              <a:buNone/>
            </a:pPr>
            <a:r>
              <a:rPr lang="en-US" sz="1300" dirty="0">
                <a:solidFill>
                  <a:srgbClr val="3EC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3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adding any edge creates exactly one cycle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609585" y="6499870"/>
            <a:ext cx="201220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KRUSKAL'S ALGORITHM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9442214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 ALGORITHMS · GREEDY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58027"/>
            <a:ext cx="10915377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idea — cheapest edge that closes no cycle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34984" y="1346200"/>
            <a:ext cx="711182" cy="508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9903768" y="6509258"/>
            <a:ext cx="1621095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585" y="1765598"/>
            <a:ext cx="10915377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Kruskal's algorithm looks at edges from cheapest to most expensive and keeps every edge that connects two previously separate components. Anything that would close a cycle is skipped.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2871724"/>
            <a:ext cx="1099614" cy="698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4200" dirty="0">
                <a:solidFill>
                  <a:srgbClr val="F2A93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777956" y="2946400"/>
            <a:ext cx="4362341" cy="329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Sort by weight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77956" y="3332460"/>
            <a:ext cx="395595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all edges from lightest to heaviest. Ties are broken arbitrarily — the result stays optimal.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 rot="5367000">
            <a:off x="5695807" y="3524250"/>
            <a:ext cx="1320767" cy="12700"/>
          </a:xfrm>
          <a:prstGeom prst="rect">
            <a:avLst/>
          </a:prstGeom>
          <a:solidFill>
            <a:srgbClr val="2E3644"/>
          </a:solidFill>
          <a:ln/>
        </p:spPr>
      </p:sp>
      <p:sp>
        <p:nvSpPr>
          <p:cNvPr id="11" name="Text 9"/>
          <p:cNvSpPr/>
          <p:nvPr/>
        </p:nvSpPr>
        <p:spPr>
          <a:xfrm>
            <a:off x="6857828" y="2871724"/>
            <a:ext cx="1099614" cy="698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4200" dirty="0">
                <a:solidFill>
                  <a:srgbClr val="F2A93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026199" y="2946400"/>
            <a:ext cx="4165496" cy="329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 the forest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26199" y="3332460"/>
            <a:ext cx="3498762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Take each edge in turn. Join two different components → keep it. Both ends already connected → skip it.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 rot="4200">
            <a:off x="609585" y="4521200"/>
            <a:ext cx="10972526" cy="12700"/>
          </a:xfrm>
          <a:prstGeom prst="rect">
            <a:avLst/>
          </a:prstGeom>
          <a:solidFill>
            <a:srgbClr val="2E3644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5" y="4876800"/>
            <a:ext cx="50799" cy="11176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377" y="4876800"/>
            <a:ext cx="690227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greedy choice is safe — the cut property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377" y="5269706"/>
            <a:ext cx="10102597" cy="637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Split the vertices into any two groups; the cheapest edge crossing that split always belongs to some MST. Every edge Kruskal keeps is exactly such a cheapest crossing edge — so no local choice can ever spoil the global optimum.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9585" y="6499870"/>
            <a:ext cx="201220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KRUSKAL'S ALGORITHM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9442214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 ALGORITHMS · GREEDY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58027"/>
            <a:ext cx="10915377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algorithm — sort, scan, union, stop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34984" y="1346200"/>
            <a:ext cx="711182" cy="508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9903768" y="6509258"/>
            <a:ext cx="1621095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585" y="1804797"/>
            <a:ext cx="501637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F2A93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0767" y="1831658"/>
            <a:ext cx="24573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kern="100" spc="100" dirty="0">
                <a:solidFill>
                  <a:srgbClr val="EDEFF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SORT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0767" y="2180927"/>
            <a:ext cx="472428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every edge by weight, cheapest first. This list drives the whole scan.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 rot="7800">
            <a:off x="609585" y="2743200"/>
            <a:ext cx="5435464" cy="12700"/>
          </a:xfrm>
          <a:prstGeom prst="rect">
            <a:avLst/>
          </a:prstGeom>
          <a:solidFill>
            <a:srgbClr val="232A37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5" y="2896997"/>
            <a:ext cx="501637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F2A93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20767" y="2923858"/>
            <a:ext cx="24573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kern="100" spc="100" dirty="0">
                <a:solidFill>
                  <a:srgbClr val="EDEFF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0767" y="3273127"/>
            <a:ext cx="466713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Put each vertex in its own component — a Union-Find structure tracks the sets.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rot="7800">
            <a:off x="609585" y="3835400"/>
            <a:ext cx="5435464" cy="12700"/>
          </a:xfrm>
          <a:prstGeom prst="rect">
            <a:avLst/>
          </a:prstGeom>
          <a:solidFill>
            <a:srgbClr val="232A37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3989197"/>
            <a:ext cx="501637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F2A93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20767" y="4016058"/>
            <a:ext cx="24573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kern="100" spc="100" dirty="0">
                <a:solidFill>
                  <a:srgbClr val="EDEFF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SCAN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0767" y="4365327"/>
            <a:ext cx="466713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each edge (u, v): if FIND(u) ≠ FIND(v), keep the edge and UNION the two sets. Otherwise skip it.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 rot="7800">
            <a:off x="609585" y="4927600"/>
            <a:ext cx="5435464" cy="12700"/>
          </a:xfrm>
          <a:prstGeom prst="rect">
            <a:avLst/>
          </a:prstGeom>
          <a:solidFill>
            <a:srgbClr val="232A37"/>
          </a:solidFill>
          <a:ln/>
        </p:spPr>
      </p:sp>
      <p:sp>
        <p:nvSpPr>
          <p:cNvPr id="18" name="Text 16"/>
          <p:cNvSpPr/>
          <p:nvPr/>
        </p:nvSpPr>
        <p:spPr>
          <a:xfrm>
            <a:off x="609585" y="5081397"/>
            <a:ext cx="501637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F2A93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320767" y="5108258"/>
            <a:ext cx="24573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kern="100" spc="100" dirty="0">
                <a:solidFill>
                  <a:srgbClr val="EDEFF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STOP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0767" y="5457527"/>
            <a:ext cx="466713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V − 1 accepted edges the tree is complete — remaining edges are never needed.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 rot="5389800">
            <a:off x="4311545" y="3968747"/>
            <a:ext cx="4394090" cy="12700"/>
          </a:xfrm>
          <a:prstGeom prst="rect">
            <a:avLst/>
          </a:prstGeom>
          <a:solidFill>
            <a:srgbClr val="2E3644"/>
          </a:solidFill>
          <a:ln/>
        </p:spPr>
      </p:sp>
      <p:sp>
        <p:nvSpPr>
          <p:cNvPr id="22" name="Shape 20"/>
          <p:cNvSpPr/>
          <p:nvPr/>
        </p:nvSpPr>
        <p:spPr>
          <a:xfrm>
            <a:off x="6959426" y="1778000"/>
            <a:ext cx="4622684" cy="3810000"/>
          </a:xfrm>
          <a:prstGeom prst="rect">
            <a:avLst/>
          </a:prstGeom>
          <a:solidFill>
            <a:srgbClr val="1B212C"/>
          </a:solidFill>
          <a:ln w="12700">
            <a:solidFill>
              <a:srgbClr val="2E36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4218" y="1995805"/>
            <a:ext cx="461633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100" spc="2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64218" y="2370435"/>
            <a:ext cx="4089298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50" dirty="0">
                <a:solidFill>
                  <a:srgbClr val="F2A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KRUSKAL</a:t>
            </a: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(G = (V, E)):</a:t>
            </a:r>
            <a:endParaRPr lang="en-US" sz="12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 ← ∅</a:t>
            </a:r>
            <a:endParaRPr lang="en-US" sz="12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sort E by weight, ascending</a:t>
            </a:r>
            <a:endParaRPr lang="en-US" sz="12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r>
              <a:rPr lang="en-US" sz="1250" dirty="0">
                <a:solidFill>
                  <a:srgbClr val="F2A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each</a:t>
            </a: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v in V: </a:t>
            </a:r>
            <a:r>
              <a:rPr lang="en-US" sz="1250" dirty="0">
                <a:solidFill>
                  <a:srgbClr val="3ECF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MAKE-SET</a:t>
            </a: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(v)</a:t>
            </a:r>
            <a:endParaRPr lang="en-US" sz="12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r>
              <a:rPr lang="en-US" sz="1250" dirty="0">
                <a:solidFill>
                  <a:srgbClr val="F2A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each</a:t>
            </a: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edge (u, v) in order:</a:t>
            </a:r>
            <a:endParaRPr lang="en-US" sz="12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r>
              <a:rPr lang="en-US" sz="1250" dirty="0">
                <a:solidFill>
                  <a:srgbClr val="F2A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50" dirty="0">
                <a:solidFill>
                  <a:srgbClr val="3ECF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FIND</a:t>
            </a: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(u) ≠ </a:t>
            </a:r>
            <a:r>
              <a:rPr lang="en-US" sz="1250" dirty="0">
                <a:solidFill>
                  <a:srgbClr val="3ECF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FIND</a:t>
            </a: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(v):</a:t>
            </a:r>
            <a:endParaRPr lang="en-US" sz="12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T ← T ∪ {(u, v)}</a:t>
            </a:r>
            <a:endParaRPr lang="en-US" sz="12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</a:t>
            </a:r>
            <a:r>
              <a:rPr lang="en-US" sz="1250" dirty="0">
                <a:solidFill>
                  <a:srgbClr val="3ECF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UNION</a:t>
            </a: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(u, v)</a:t>
            </a:r>
            <a:endParaRPr lang="en-US" sz="12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r>
              <a:rPr lang="en-US" sz="125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 when |T| = |V| − 1</a:t>
            </a:r>
            <a:endParaRPr lang="en-US" sz="12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r>
              <a:rPr lang="en-US" sz="1250" dirty="0">
                <a:solidFill>
                  <a:srgbClr val="F2A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25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59426" y="5806678"/>
            <a:ext cx="4565536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98A1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only real question in the loop: are u and v already in the same set?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9585" y="6499870"/>
            <a:ext cx="201220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KRUSKAL'S ALGORITHM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9442214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WORKED EXAMPLE · INPUT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58027"/>
            <a:ext cx="10915377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example — 6 towns, 9 candidate links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34984" y="1346200"/>
            <a:ext cx="711182" cy="508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9903768" y="6509258"/>
            <a:ext cx="1621095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4994400">
            <a:off x="92172" y="3765550"/>
            <a:ext cx="2698385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7" name="Shape 5"/>
          <p:cNvSpPr/>
          <p:nvPr/>
        </p:nvSpPr>
        <p:spPr>
          <a:xfrm>
            <a:off x="825479" y="36322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8" name="Text 6"/>
          <p:cNvSpPr/>
          <p:nvPr/>
        </p:nvSpPr>
        <p:spPr>
          <a:xfrm>
            <a:off x="520687" y="3660275"/>
            <a:ext cx="106677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4914600">
            <a:off x="2799485" y="3448051"/>
            <a:ext cx="2706521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793" y="33147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11" name="Text 9"/>
          <p:cNvSpPr/>
          <p:nvPr/>
        </p:nvSpPr>
        <p:spPr>
          <a:xfrm>
            <a:off x="3975001" y="3342775"/>
            <a:ext cx="106677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rot="19056000">
            <a:off x="4084633" y="4108447"/>
            <a:ext cx="1977579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3" name="Shape 11"/>
          <p:cNvSpPr/>
          <p:nvPr/>
        </p:nvSpPr>
        <p:spPr>
          <a:xfrm>
            <a:off x="5168771" y="37846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14" name="Text 12"/>
          <p:cNvSpPr/>
          <p:nvPr/>
        </p:nvSpPr>
        <p:spPr>
          <a:xfrm>
            <a:off x="4863978" y="3812675"/>
            <a:ext cx="106677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21194400">
            <a:off x="1273242" y="2266950"/>
            <a:ext cx="2698385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6" name="Shape 14"/>
          <p:cNvSpPr/>
          <p:nvPr/>
        </p:nvSpPr>
        <p:spPr>
          <a:xfrm>
            <a:off x="2387540" y="18415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17" name="Text 15"/>
          <p:cNvSpPr/>
          <p:nvPr/>
        </p:nvSpPr>
        <p:spPr>
          <a:xfrm>
            <a:off x="2082748" y="1869575"/>
            <a:ext cx="106677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rot="18494400">
            <a:off x="873203" y="3606801"/>
            <a:ext cx="3816056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19" name="Shape 17"/>
          <p:cNvSpPr/>
          <p:nvPr/>
        </p:nvSpPr>
        <p:spPr>
          <a:xfrm>
            <a:off x="2222444" y="32512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20" name="Text 18"/>
          <p:cNvSpPr/>
          <p:nvPr/>
        </p:nvSpPr>
        <p:spPr>
          <a:xfrm>
            <a:off x="1917652" y="3279275"/>
            <a:ext cx="106677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rot="21204000">
            <a:off x="1590933" y="4946650"/>
            <a:ext cx="2761387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131" y="51181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23" name="Text 21"/>
          <p:cNvSpPr/>
          <p:nvPr/>
        </p:nvSpPr>
        <p:spPr>
          <a:xfrm>
            <a:off x="2438339" y="5146175"/>
            <a:ext cx="106677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 rot="20313600">
            <a:off x="1443894" y="4267200"/>
            <a:ext cx="4516126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25" name="Shape 23"/>
          <p:cNvSpPr/>
          <p:nvPr/>
        </p:nvSpPr>
        <p:spPr>
          <a:xfrm>
            <a:off x="3759106" y="44069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26" name="Text 24"/>
          <p:cNvSpPr/>
          <p:nvPr/>
        </p:nvSpPr>
        <p:spPr>
          <a:xfrm>
            <a:off x="3454314" y="4434975"/>
            <a:ext cx="106677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 rot="3571800">
            <a:off x="4034530" y="5327650"/>
            <a:ext cx="1252407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28" name="Shape 26"/>
          <p:cNvSpPr/>
          <p:nvPr/>
        </p:nvSpPr>
        <p:spPr>
          <a:xfrm>
            <a:off x="4635384" y="53467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29" name="Text 27"/>
          <p:cNvSpPr/>
          <p:nvPr/>
        </p:nvSpPr>
        <p:spPr>
          <a:xfrm>
            <a:off x="4330592" y="5374775"/>
            <a:ext cx="106677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 rot="17327400">
            <a:off x="4109834" y="4654548"/>
            <a:ext cx="2562260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31" name="Shape 29"/>
          <p:cNvSpPr/>
          <p:nvPr/>
        </p:nvSpPr>
        <p:spPr>
          <a:xfrm>
            <a:off x="5511662" y="45339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32" name="Text 30"/>
          <p:cNvSpPr/>
          <p:nvPr/>
        </p:nvSpPr>
        <p:spPr>
          <a:xfrm>
            <a:off x="5206870" y="4561975"/>
            <a:ext cx="106677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8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90575" y="2146300"/>
            <a:ext cx="584185" cy="5842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783" y="2310138"/>
            <a:ext cx="11937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70208" y="1828800"/>
            <a:ext cx="584185" cy="5842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5416" y="1992638"/>
            <a:ext cx="11937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B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308067" y="4826000"/>
            <a:ext cx="584185" cy="5842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3275" y="4989838"/>
            <a:ext cx="11937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051199" y="4508500"/>
            <a:ext cx="584185" cy="5842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6406" y="4672338"/>
            <a:ext cx="11937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511662" y="3162300"/>
            <a:ext cx="584185" cy="5842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06870" y="3326138"/>
            <a:ext cx="11937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686183" y="5588000"/>
            <a:ext cx="584185" cy="5842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1390" y="5751838"/>
            <a:ext cx="11937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9585" y="6280658"/>
            <a:ext cx="6140296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48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Vertices = towns, edges = possible trenches, numbers = cost</a:t>
            </a:r>
            <a:endParaRPr lang="en-US" sz="11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5816" y="1854200"/>
          <a:ext cx="4216295" cy="914400"/>
        </p:xfrm>
        <a:graphic>
          <a:graphicData uri="http://schemas.openxmlformats.org/drawingml/2006/table">
            <a:tbl>
              <a:tblPr/>
              <a:tblGrid>
                <a:gridCol w="118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9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kern="100" spc="100" dirty="0">
                          <a:solidFill>
                            <a:srgbClr val="F2A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ORDER</a:t>
                      </a:r>
                      <a:endParaRPr lang="en-US" sz="115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19377" marB="11937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kern="100" spc="100" dirty="0">
                          <a:solidFill>
                            <a:srgbClr val="F2A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EDGE</a:t>
                      </a:r>
                      <a:endParaRPr lang="en-US" sz="115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19377" marB="11937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kern="100" spc="100" dirty="0">
                          <a:solidFill>
                            <a:srgbClr val="F2A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WEIGHT</a:t>
                      </a:r>
                      <a:endParaRPr lang="en-US" sz="115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19377" marB="11937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 – C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 – D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 – 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 – B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 – C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 – D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 – 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3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 – F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1278" marB="8127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3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7628" marB="8762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 – F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7628" marB="8762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87628" marB="87628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7" name="Text 44"/>
          <p:cNvSpPr/>
          <p:nvPr/>
        </p:nvSpPr>
        <p:spPr>
          <a:xfrm>
            <a:off x="7365816" y="1625600"/>
            <a:ext cx="476873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EDGES SORTED BY WEIGHT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7365816" y="5862737"/>
            <a:ext cx="4159146" cy="508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50" dirty="0">
                <a:solidFill>
                  <a:srgbClr val="98A1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Kruskal scans this list top to bottom. A–B and B–C tie at 4 — either order gives the same optimum.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609585" y="6499870"/>
            <a:ext cx="201220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KRUSKAL'S ALGORITHM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9442214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WORKED EXAMPLE · ACCEPT PHASE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58027"/>
            <a:ext cx="10915377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Walkthrough 1 — the first four edges are safe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34984" y="1346200"/>
            <a:ext cx="711182" cy="508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9903768" y="6509258"/>
            <a:ext cx="1621095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4999200">
            <a:off x="264114" y="3765550"/>
            <a:ext cx="2621195" cy="5080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7" name="Shape 5"/>
          <p:cNvSpPr/>
          <p:nvPr/>
        </p:nvSpPr>
        <p:spPr>
          <a:xfrm>
            <a:off x="977876" y="36449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8" name="Text 6"/>
          <p:cNvSpPr/>
          <p:nvPr/>
        </p:nvSpPr>
        <p:spPr>
          <a:xfrm>
            <a:off x="673083" y="36771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69968" y="3327400"/>
            <a:ext cx="253994" cy="2540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965176" y="3334258"/>
            <a:ext cx="863578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2151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4917000">
            <a:off x="2895230" y="3448050"/>
            <a:ext cx="2629330" cy="5080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0592" y="33401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5799" y="33723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22684" y="3022600"/>
            <a:ext cx="253994" cy="2540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317892" y="3029458"/>
            <a:ext cx="863578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2151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19060800">
            <a:off x="4143372" y="4102103"/>
            <a:ext cx="1923803" cy="5080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7" name="Shape 15"/>
          <p:cNvSpPr/>
          <p:nvPr/>
        </p:nvSpPr>
        <p:spPr>
          <a:xfrm>
            <a:off x="5206870" y="37846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18" name="Text 16"/>
          <p:cNvSpPr/>
          <p:nvPr/>
        </p:nvSpPr>
        <p:spPr>
          <a:xfrm>
            <a:off x="4902077" y="38168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98962" y="3479800"/>
            <a:ext cx="253994" cy="2540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5194170" y="3486658"/>
            <a:ext cx="863578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2151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37061" y="31877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2269" y="33451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 rot="21199200">
            <a:off x="1413435" y="2298700"/>
            <a:ext cx="2621195" cy="5080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24" name="Shape 22"/>
          <p:cNvSpPr/>
          <p:nvPr/>
        </p:nvSpPr>
        <p:spPr>
          <a:xfrm>
            <a:off x="2501837" y="18923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25" name="Text 23"/>
          <p:cNvSpPr/>
          <p:nvPr/>
        </p:nvSpPr>
        <p:spPr>
          <a:xfrm>
            <a:off x="2197045" y="19245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93930" y="1587500"/>
            <a:ext cx="253994" cy="2540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2489138" y="1594358"/>
            <a:ext cx="863578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2151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rot="18490200">
            <a:off x="1020637" y="3616324"/>
            <a:ext cx="3698981" cy="19050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29" name="Shape 27"/>
          <p:cNvSpPr/>
          <p:nvPr/>
        </p:nvSpPr>
        <p:spPr>
          <a:xfrm>
            <a:off x="2336742" y="32639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30" name="Text 28"/>
          <p:cNvSpPr/>
          <p:nvPr/>
        </p:nvSpPr>
        <p:spPr>
          <a:xfrm>
            <a:off x="2031949" y="32961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B7484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 rot="21207000">
            <a:off x="1718426" y="4918075"/>
            <a:ext cx="2671596" cy="19050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32" name="Shape 30"/>
          <p:cNvSpPr/>
          <p:nvPr/>
        </p:nvSpPr>
        <p:spPr>
          <a:xfrm>
            <a:off x="2844729" y="50927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33" name="Text 31"/>
          <p:cNvSpPr/>
          <p:nvPr/>
        </p:nvSpPr>
        <p:spPr>
          <a:xfrm>
            <a:off x="2539936" y="51249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B7484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 rot="20304600">
            <a:off x="1573471" y="4276724"/>
            <a:ext cx="4383970" cy="19050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35" name="Shape 33"/>
          <p:cNvSpPr/>
          <p:nvPr/>
        </p:nvSpPr>
        <p:spPr>
          <a:xfrm>
            <a:off x="3822604" y="43942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36" name="Text 34"/>
          <p:cNvSpPr/>
          <p:nvPr/>
        </p:nvSpPr>
        <p:spPr>
          <a:xfrm>
            <a:off x="3517812" y="44264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B7484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 rot="3566400">
            <a:off x="4093167" y="5292725"/>
            <a:ext cx="1223932" cy="19050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38" name="Shape 36"/>
          <p:cNvSpPr/>
          <p:nvPr/>
        </p:nvSpPr>
        <p:spPr>
          <a:xfrm>
            <a:off x="4673483" y="53086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39" name="Text 37"/>
          <p:cNvSpPr/>
          <p:nvPr/>
        </p:nvSpPr>
        <p:spPr>
          <a:xfrm>
            <a:off x="4368691" y="53408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B7484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 rot="17328600">
            <a:off x="4175514" y="4645021"/>
            <a:ext cx="2481895" cy="19050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41" name="Shape 39"/>
          <p:cNvSpPr/>
          <p:nvPr/>
        </p:nvSpPr>
        <p:spPr>
          <a:xfrm>
            <a:off x="5537061" y="45085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42" name="Text 40"/>
          <p:cNvSpPr/>
          <p:nvPr/>
        </p:nvSpPr>
        <p:spPr>
          <a:xfrm>
            <a:off x="5232269" y="45407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B7484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142971" y="21971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8179" y="23545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733707" y="18923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8914" y="20497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B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447764" y="48006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42971" y="49580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101997" y="44831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97205" y="46405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724282" y="55372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19489" y="56946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 rot="5389800">
            <a:off x="4997328" y="3968747"/>
            <a:ext cx="4394090" cy="12700"/>
          </a:xfrm>
          <a:prstGeom prst="rect">
            <a:avLst/>
          </a:prstGeom>
          <a:solidFill>
            <a:srgbClr val="2E3644"/>
          </a:solidFill>
          <a:ln/>
        </p:spPr>
      </p:sp>
      <p:sp>
        <p:nvSpPr>
          <p:cNvPr id="54" name="Text 52"/>
          <p:cNvSpPr/>
          <p:nvPr/>
        </p:nvSpPr>
        <p:spPr>
          <a:xfrm>
            <a:off x="8076998" y="3878453"/>
            <a:ext cx="4057548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 – E · weight 3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7619809" y="1765300"/>
            <a:ext cx="457188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EDGE: BOTH ENDS IN DIFFERENT SETS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19809" y="2184400"/>
            <a:ext cx="279393" cy="2794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7" name="Text 55"/>
          <p:cNvSpPr/>
          <p:nvPr/>
        </p:nvSpPr>
        <p:spPr>
          <a:xfrm>
            <a:off x="7315017" y="2188972"/>
            <a:ext cx="888978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2151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8076998" y="2202053"/>
            <a:ext cx="4057548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 – C · weight 1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8076998" y="2491482"/>
            <a:ext cx="4114697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Cheapest edge overall — starts the tree.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619809" y="3022600"/>
            <a:ext cx="279393" cy="2794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1" name="Text 59"/>
          <p:cNvSpPr/>
          <p:nvPr/>
        </p:nvSpPr>
        <p:spPr>
          <a:xfrm>
            <a:off x="7315017" y="3027172"/>
            <a:ext cx="888978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2151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2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8076998" y="3040253"/>
            <a:ext cx="4057548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B – D · weight 2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8076998" y="3329682"/>
            <a:ext cx="4114697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independent pair; forms its own component.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619809" y="3860800"/>
            <a:ext cx="279393" cy="2794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5" name="Text 63"/>
          <p:cNvSpPr/>
          <p:nvPr/>
        </p:nvSpPr>
        <p:spPr>
          <a:xfrm>
            <a:off x="7315017" y="3865372"/>
            <a:ext cx="888978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2151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3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8076998" y="4167882"/>
            <a:ext cx="4114697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 joins the {B, D} component.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619809" y="4699000"/>
            <a:ext cx="279393" cy="2794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8" name="Text 66"/>
          <p:cNvSpPr/>
          <p:nvPr/>
        </p:nvSpPr>
        <p:spPr>
          <a:xfrm>
            <a:off x="7315017" y="4703572"/>
            <a:ext cx="888978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2151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8076998" y="4716653"/>
            <a:ext cx="4057548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 – B · weight 4</a:t>
            </a:r>
            <a:endParaRPr lang="en-US" sz="1350" dirty="0"/>
          </a:p>
        </p:txBody>
      </p:sp>
      <p:sp>
        <p:nvSpPr>
          <p:cNvPr id="70" name="Text 68"/>
          <p:cNvSpPr/>
          <p:nvPr/>
        </p:nvSpPr>
        <p:spPr>
          <a:xfrm>
            <a:off x="8076998" y="5006082"/>
            <a:ext cx="4114697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Merges {A, C} with {B, D, E} into one set.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 rot="10800">
            <a:off x="7619809" y="5562600"/>
            <a:ext cx="3962301" cy="12700"/>
          </a:xfrm>
          <a:prstGeom prst="rect">
            <a:avLst/>
          </a:prstGeom>
          <a:solidFill>
            <a:srgbClr val="2E3644"/>
          </a:solidFill>
          <a:ln/>
        </p:spPr>
      </p:sp>
      <p:sp>
        <p:nvSpPr>
          <p:cNvPr id="72" name="Text 70"/>
          <p:cNvSpPr/>
          <p:nvPr/>
        </p:nvSpPr>
        <p:spPr>
          <a:xfrm>
            <a:off x="7619809" y="5761732"/>
            <a:ext cx="3962301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Components now: </a:t>
            </a:r>
            <a:r>
              <a:rPr lang="en-US" sz="1200" dirty="0">
                <a:solidFill>
                  <a:srgbClr val="F2A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{A B C D E}</a:t>
            </a:r>
            <a:r>
              <a:rPr lang="en-US" sz="120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r>
              <a:rPr lang="en-US" sz="1200" dirty="0">
                <a:solidFill>
                  <a:srgbClr val="F2A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{F}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edges kept, 0 rejected so far.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09585" y="6499870"/>
            <a:ext cx="201220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KRUSKAL'S ALGORITHM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9442214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WORKED EXAMPLE · THE KEY JUDGMENT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58027"/>
            <a:ext cx="11192290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Walkthrough 2 — B–C is cheap, but closes a cycle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34984" y="1346200"/>
            <a:ext cx="711182" cy="508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9903768" y="6509258"/>
            <a:ext cx="1621095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4999200">
            <a:off x="200616" y="3765550"/>
            <a:ext cx="2621195" cy="5080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7" name="Shape 5"/>
          <p:cNvSpPr/>
          <p:nvPr/>
        </p:nvSpPr>
        <p:spPr>
          <a:xfrm>
            <a:off x="914377" y="36449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36771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06470" y="3327400"/>
            <a:ext cx="253994" cy="2540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901677" y="3334258"/>
            <a:ext cx="863578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2151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4917000">
            <a:off x="2831731" y="3448050"/>
            <a:ext cx="2629330" cy="5080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2" name="Shape 10"/>
          <p:cNvSpPr/>
          <p:nvPr/>
        </p:nvSpPr>
        <p:spPr>
          <a:xfrm>
            <a:off x="4267093" y="33401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13" name="Text 11"/>
          <p:cNvSpPr/>
          <p:nvPr/>
        </p:nvSpPr>
        <p:spPr>
          <a:xfrm>
            <a:off x="3962301" y="33723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59186" y="3022600"/>
            <a:ext cx="253994" cy="2540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254394" y="3029458"/>
            <a:ext cx="863578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2151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19060800">
            <a:off x="4079873" y="4102103"/>
            <a:ext cx="1923803" cy="5080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7" name="Shape 15"/>
          <p:cNvSpPr/>
          <p:nvPr/>
        </p:nvSpPr>
        <p:spPr>
          <a:xfrm>
            <a:off x="5143371" y="37846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18" name="Text 16"/>
          <p:cNvSpPr/>
          <p:nvPr/>
        </p:nvSpPr>
        <p:spPr>
          <a:xfrm>
            <a:off x="4838579" y="38168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35464" y="3479800"/>
            <a:ext cx="253994" cy="2540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5130672" y="3486658"/>
            <a:ext cx="863578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2151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73563" y="31877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8771" y="33451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 rot="21199200">
            <a:off x="1349937" y="2298700"/>
            <a:ext cx="2621195" cy="5080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38339" y="18923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25" name="Text 23"/>
          <p:cNvSpPr/>
          <p:nvPr/>
        </p:nvSpPr>
        <p:spPr>
          <a:xfrm>
            <a:off x="2133547" y="19245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30432" y="1587500"/>
            <a:ext cx="253994" cy="2540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2425639" y="1594358"/>
            <a:ext cx="863578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2151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</a:t>
            </a:r>
            <a:endParaRPr lang="en-US" sz="11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490200">
            <a:off x="957139" y="3609974"/>
            <a:ext cx="3698981" cy="3175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2273243" y="32639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30" name="Text 27"/>
          <p:cNvSpPr/>
          <p:nvPr/>
        </p:nvSpPr>
        <p:spPr>
          <a:xfrm>
            <a:off x="1968451" y="32961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0604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</a:t>
            </a:r>
            <a:endParaRPr lang="en-US" sz="12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07000">
            <a:off x="1654927" y="4911725"/>
            <a:ext cx="2671596" cy="3175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2781230" y="50927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33" name="Text 29"/>
          <p:cNvSpPr/>
          <p:nvPr/>
        </p:nvSpPr>
        <p:spPr>
          <a:xfrm>
            <a:off x="2476438" y="51249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0604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5</a:t>
            </a:r>
            <a:endParaRPr lang="en-US" sz="12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304600">
            <a:off x="1509972" y="4270374"/>
            <a:ext cx="4383970" cy="31750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3759106" y="43942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36" name="Text 31"/>
          <p:cNvSpPr/>
          <p:nvPr/>
        </p:nvSpPr>
        <p:spPr>
          <a:xfrm>
            <a:off x="3454314" y="44264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0604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 rot="3566400">
            <a:off x="4029669" y="5276850"/>
            <a:ext cx="1223932" cy="5080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38" name="Shape 33"/>
          <p:cNvSpPr/>
          <p:nvPr/>
        </p:nvSpPr>
        <p:spPr>
          <a:xfrm>
            <a:off x="4609985" y="53086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39" name="Text 34"/>
          <p:cNvSpPr/>
          <p:nvPr/>
        </p:nvSpPr>
        <p:spPr>
          <a:xfrm>
            <a:off x="4305192" y="53408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4902077" y="4991100"/>
            <a:ext cx="253994" cy="2540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1" name="Text 36"/>
          <p:cNvSpPr/>
          <p:nvPr/>
        </p:nvSpPr>
        <p:spPr>
          <a:xfrm>
            <a:off x="4597285" y="4997958"/>
            <a:ext cx="863578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2151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 rot="17328600">
            <a:off x="4111817" y="4645021"/>
            <a:ext cx="2481895" cy="19050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43" name="Shape 38"/>
          <p:cNvSpPr/>
          <p:nvPr/>
        </p:nvSpPr>
        <p:spPr>
          <a:xfrm>
            <a:off x="5473563" y="4508500"/>
            <a:ext cx="4444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44" name="Text 39"/>
          <p:cNvSpPr/>
          <p:nvPr/>
        </p:nvSpPr>
        <p:spPr>
          <a:xfrm>
            <a:off x="5168771" y="4540750"/>
            <a:ext cx="105407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B7484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8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1079473" y="21971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774681" y="23545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</a:t>
            </a:r>
            <a:endParaRPr lang="en-US" sz="1600" dirty="0"/>
          </a:p>
        </p:txBody>
      </p:sp>
      <p:sp>
        <p:nvSpPr>
          <p:cNvPr id="47" name="Shape 42"/>
          <p:cNvSpPr/>
          <p:nvPr/>
        </p:nvSpPr>
        <p:spPr>
          <a:xfrm>
            <a:off x="3670208" y="18923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3365416" y="20497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B</a:t>
            </a:r>
            <a:endParaRPr lang="en-US" sz="1600" dirty="0"/>
          </a:p>
        </p:txBody>
      </p:sp>
      <p:sp>
        <p:nvSpPr>
          <p:cNvPr id="49" name="Shape 44"/>
          <p:cNvSpPr/>
          <p:nvPr/>
        </p:nvSpPr>
        <p:spPr>
          <a:xfrm>
            <a:off x="1384265" y="48006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1079473" y="49580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</a:t>
            </a:r>
            <a:endParaRPr lang="en-US" sz="1600" dirty="0"/>
          </a:p>
        </p:txBody>
      </p:sp>
      <p:sp>
        <p:nvSpPr>
          <p:cNvPr id="51" name="Shape 46"/>
          <p:cNvSpPr/>
          <p:nvPr/>
        </p:nvSpPr>
        <p:spPr>
          <a:xfrm>
            <a:off x="4038499" y="44831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3733707" y="46405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</a:t>
            </a:r>
            <a:endParaRPr lang="en-US" sz="1600" dirty="0"/>
          </a:p>
        </p:txBody>
      </p:sp>
      <p:sp>
        <p:nvSpPr>
          <p:cNvPr id="53" name="Shape 48"/>
          <p:cNvSpPr/>
          <p:nvPr/>
        </p:nvSpPr>
        <p:spPr>
          <a:xfrm>
            <a:off x="4660783" y="55372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4355991" y="56946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</a:t>
            </a:r>
            <a:endParaRPr lang="en-US" sz="1600" dirty="0"/>
          </a:p>
        </p:txBody>
      </p:sp>
      <p:sp>
        <p:nvSpPr>
          <p:cNvPr id="55" name="Shape 50"/>
          <p:cNvSpPr/>
          <p:nvPr/>
        </p:nvSpPr>
        <p:spPr>
          <a:xfrm rot="5389800">
            <a:off x="4870331" y="3968747"/>
            <a:ext cx="4394090" cy="12700"/>
          </a:xfrm>
          <a:prstGeom prst="rect">
            <a:avLst/>
          </a:prstGeom>
          <a:solidFill>
            <a:srgbClr val="2E3644"/>
          </a:solidFill>
          <a:ln/>
        </p:spPr>
      </p:sp>
      <p:sp>
        <p:nvSpPr>
          <p:cNvPr id="56" name="Text 51"/>
          <p:cNvSpPr/>
          <p:nvPr/>
        </p:nvSpPr>
        <p:spPr>
          <a:xfrm>
            <a:off x="7492813" y="3636070"/>
            <a:ext cx="403214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E060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r>
              <a:rPr lang="en-US" sz="13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30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C–D (5)</a:t>
            </a:r>
            <a:r>
              <a:rPr lang="en-US" sz="13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r>
              <a:rPr lang="en-US" sz="1300" dirty="0">
                <a:solidFill>
                  <a:srgbClr val="E060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r>
              <a:rPr lang="en-US" sz="13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30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C–E (6)</a:t>
            </a:r>
            <a:r>
              <a:rPr lang="en-US" sz="13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fail the same test — both endpoints are already connected.</a:t>
            </a:r>
            <a:endParaRPr lang="en-US" sz="1300" dirty="0"/>
          </a:p>
        </p:txBody>
      </p:sp>
      <p:pic>
        <p:nvPicPr>
          <p:cNvPr id="5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2813" y="1803400"/>
            <a:ext cx="279393" cy="279400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7899202" y="1831388"/>
            <a:ext cx="4235344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100" spc="100" dirty="0">
                <a:solidFill>
                  <a:srgbClr val="E0604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WHY B – C (4) IS SKIPPED</a:t>
            </a:r>
            <a:endParaRPr lang="en-US" sz="1150" dirty="0"/>
          </a:p>
        </p:txBody>
      </p:sp>
      <p:sp>
        <p:nvSpPr>
          <p:cNvPr id="59" name="Text 53"/>
          <p:cNvSpPr/>
          <p:nvPr/>
        </p:nvSpPr>
        <p:spPr>
          <a:xfrm>
            <a:off x="7492813" y="2340670"/>
            <a:ext cx="4032149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 and C already sit in the same component — a path exists: </a:t>
            </a:r>
            <a:r>
              <a:rPr lang="en-US" sz="1300" dirty="0">
                <a:solidFill>
                  <a:srgbClr val="3EC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 → A → C</a:t>
            </a:r>
            <a:r>
              <a:rPr lang="en-US" sz="13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Adding B–C would close the cycle </a:t>
            </a:r>
            <a:r>
              <a:rPr lang="en-US" sz="130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B–A–C–B</a:t>
            </a:r>
            <a:r>
              <a:rPr lang="en-US" sz="13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a tree never contains a cycle.</a:t>
            </a:r>
            <a:endParaRPr lang="en-US" sz="1300" dirty="0"/>
          </a:p>
        </p:txBody>
      </p:sp>
      <p:sp>
        <p:nvSpPr>
          <p:cNvPr id="60" name="Shape 54"/>
          <p:cNvSpPr/>
          <p:nvPr/>
        </p:nvSpPr>
        <p:spPr>
          <a:xfrm rot="10800">
            <a:off x="7492813" y="3403600"/>
            <a:ext cx="4089298" cy="12700"/>
          </a:xfrm>
          <a:prstGeom prst="rect">
            <a:avLst/>
          </a:prstGeom>
          <a:solidFill>
            <a:srgbClr val="2E3644"/>
          </a:solidFill>
          <a:ln/>
        </p:spPr>
      </p:sp>
      <p:sp>
        <p:nvSpPr>
          <p:cNvPr id="61" name="Shape 55"/>
          <p:cNvSpPr/>
          <p:nvPr/>
        </p:nvSpPr>
        <p:spPr>
          <a:xfrm rot="10800">
            <a:off x="7492813" y="4419600"/>
            <a:ext cx="4089298" cy="12700"/>
          </a:xfrm>
          <a:prstGeom prst="rect">
            <a:avLst/>
          </a:prstGeom>
          <a:solidFill>
            <a:srgbClr val="2E3644"/>
          </a:solidFill>
          <a:ln/>
        </p:spPr>
      </p:sp>
      <p:sp>
        <p:nvSpPr>
          <p:cNvPr id="62" name="Text 56"/>
          <p:cNvSpPr/>
          <p:nvPr/>
        </p:nvSpPr>
        <p:spPr>
          <a:xfrm>
            <a:off x="7492813" y="4652070"/>
            <a:ext cx="4032149" cy="103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ECF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3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30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D–F (7)</a:t>
            </a:r>
            <a:r>
              <a:rPr lang="en-US" sz="130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different: F is still on its own, so the edge is kept — the 5th and final one.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48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edges = V − 1 → stop. E–F (8) is never even examined.</a:t>
            </a:r>
            <a:endParaRPr lang="en-US" sz="1300" dirty="0"/>
          </a:p>
        </p:txBody>
      </p:sp>
      <p:sp>
        <p:nvSpPr>
          <p:cNvPr id="63" name="Text 57"/>
          <p:cNvSpPr/>
          <p:nvPr/>
        </p:nvSpPr>
        <p:spPr>
          <a:xfrm>
            <a:off x="609585" y="6499870"/>
            <a:ext cx="201220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KRUSKAL'S ALGORITHM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9442214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WORKED EXAMPLE ·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58027"/>
            <a:ext cx="10915377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result — a spanning tree of weight 17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34984" y="1346200"/>
            <a:ext cx="711182" cy="508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9903768" y="6509258"/>
            <a:ext cx="1621095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4989000">
            <a:off x="5013202" y="3721097"/>
            <a:ext cx="2660583" cy="5080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7" name="Shape 5"/>
          <p:cNvSpPr/>
          <p:nvPr/>
        </p:nvSpPr>
        <p:spPr>
          <a:xfrm>
            <a:off x="5727557" y="36068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8" name="Text 6"/>
          <p:cNvSpPr/>
          <p:nvPr/>
        </p:nvSpPr>
        <p:spPr>
          <a:xfrm>
            <a:off x="5422764" y="3639050"/>
            <a:ext cx="1066773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4907400">
            <a:off x="7669517" y="3416300"/>
            <a:ext cx="2668818" cy="5080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0" name="Shape 8"/>
          <p:cNvSpPr/>
          <p:nvPr/>
        </p:nvSpPr>
        <p:spPr>
          <a:xfrm>
            <a:off x="9131072" y="33020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11" name="Text 9"/>
          <p:cNvSpPr/>
          <p:nvPr/>
        </p:nvSpPr>
        <p:spPr>
          <a:xfrm>
            <a:off x="8826279" y="3334250"/>
            <a:ext cx="1066773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19057800">
            <a:off x="8938593" y="4064001"/>
            <a:ext cx="1959621" cy="5080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7350" y="37592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14" name="Text 12"/>
          <p:cNvSpPr/>
          <p:nvPr/>
        </p:nvSpPr>
        <p:spPr>
          <a:xfrm>
            <a:off x="9702557" y="3791450"/>
            <a:ext cx="1066773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21189000">
            <a:off x="6175221" y="2254250"/>
            <a:ext cx="2660583" cy="5080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6" name="Shape 14"/>
          <p:cNvSpPr/>
          <p:nvPr/>
        </p:nvSpPr>
        <p:spPr>
          <a:xfrm>
            <a:off x="7276918" y="18288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17" name="Text 15"/>
          <p:cNvSpPr/>
          <p:nvPr/>
        </p:nvSpPr>
        <p:spPr>
          <a:xfrm>
            <a:off x="6972126" y="1861050"/>
            <a:ext cx="1066773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18496200">
            <a:off x="5775281" y="3584578"/>
            <a:ext cx="3752558" cy="19050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19" name="Shape 17"/>
          <p:cNvSpPr/>
          <p:nvPr/>
        </p:nvSpPr>
        <p:spPr>
          <a:xfrm>
            <a:off x="7099122" y="32258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20" name="Text 18"/>
          <p:cNvSpPr/>
          <p:nvPr/>
        </p:nvSpPr>
        <p:spPr>
          <a:xfrm>
            <a:off x="6794330" y="3258050"/>
            <a:ext cx="1066773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B7484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21198600">
            <a:off x="6480211" y="4899025"/>
            <a:ext cx="2723487" cy="19050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22" name="Shape 20"/>
          <p:cNvSpPr/>
          <p:nvPr/>
        </p:nvSpPr>
        <p:spPr>
          <a:xfrm>
            <a:off x="7619809" y="50673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017" y="5099550"/>
            <a:ext cx="1066773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B7484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20304600">
            <a:off x="6333272" y="4238624"/>
            <a:ext cx="4452429" cy="19050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25" name="Shape 23"/>
          <p:cNvSpPr/>
          <p:nvPr/>
        </p:nvSpPr>
        <p:spPr>
          <a:xfrm>
            <a:off x="8610385" y="43688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26" name="Text 24"/>
          <p:cNvSpPr/>
          <p:nvPr/>
        </p:nvSpPr>
        <p:spPr>
          <a:xfrm>
            <a:off x="8305592" y="4401050"/>
            <a:ext cx="1066773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B7484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rot="3584400">
            <a:off x="8888190" y="5257800"/>
            <a:ext cx="1235044" cy="5080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28" name="Shape 26"/>
          <p:cNvSpPr/>
          <p:nvPr/>
        </p:nvSpPr>
        <p:spPr>
          <a:xfrm>
            <a:off x="9473963" y="52959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29" name="Text 27"/>
          <p:cNvSpPr/>
          <p:nvPr/>
        </p:nvSpPr>
        <p:spPr>
          <a:xfrm>
            <a:off x="9169171" y="5328150"/>
            <a:ext cx="1066773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CF8E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rot="17328000">
            <a:off x="8962107" y="4613277"/>
            <a:ext cx="2522078" cy="19050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50241" y="4495800"/>
            <a:ext cx="457189" cy="2794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32" name="Text 30"/>
          <p:cNvSpPr/>
          <p:nvPr/>
        </p:nvSpPr>
        <p:spPr>
          <a:xfrm>
            <a:off x="10045449" y="4528050"/>
            <a:ext cx="1066773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B7484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2653" y="21463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87860" y="23037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9585" y="2175069"/>
            <a:ext cx="643020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3ECF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+ 2 + 3 + 4 + 7</a:t>
            </a:r>
            <a:r>
              <a:rPr lang="en-US" sz="1300" dirty="0">
                <a:solidFill>
                  <a:srgbClr val="EDEF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 </a:t>
            </a:r>
            <a:r>
              <a:rPr lang="en-US" sz="13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(B–C, C–D, C–E, E–F skipped)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521487" y="18288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16694" y="19862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B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10145" y="47752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05352" y="49326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902477" y="44704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7685" y="46278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350241" y="31496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45449" y="33070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524762" y="5537200"/>
            <a:ext cx="571486" cy="5715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19969" y="5694688"/>
            <a:ext cx="11810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09585" y="1854200"/>
            <a:ext cx="4616335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ADDING IT UP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58786" y="2618994"/>
            <a:ext cx="4133747" cy="8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5200" dirty="0">
                <a:solidFill>
                  <a:srgbClr val="F2A93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= 17</a:t>
            </a:r>
            <a:endParaRPr lang="en-US" sz="5200" dirty="0"/>
          </a:p>
        </p:txBody>
      </p:sp>
      <p:sp>
        <p:nvSpPr>
          <p:cNvPr id="48" name="Text 46"/>
          <p:cNvSpPr/>
          <p:nvPr/>
        </p:nvSpPr>
        <p:spPr>
          <a:xfrm>
            <a:off x="634984" y="3456686"/>
            <a:ext cx="4616335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98A1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total cost units — the minimum achievable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 rot="10800">
            <a:off x="609585" y="3886200"/>
            <a:ext cx="3962301" cy="12700"/>
          </a:xfrm>
          <a:prstGeom prst="rect">
            <a:avLst/>
          </a:prstGeom>
          <a:solidFill>
            <a:srgbClr val="2E3644"/>
          </a:solidFill>
          <a:ln/>
        </p:spPr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84" y="4140200"/>
            <a:ext cx="190495" cy="190500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965176" y="4124027"/>
            <a:ext cx="375275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edges for 6 vertices</a:t>
            </a:r>
            <a:r>
              <a:rPr lang="en-US" sz="125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250" dirty="0">
                <a:solidFill>
                  <a:srgbClr val="6B748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= V − 1, as a spanning tree must have</a:t>
            </a:r>
            <a:endParaRPr lang="en-US" sz="1250" dirty="0"/>
          </a:p>
        </p:txBody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84" y="4673600"/>
            <a:ext cx="190495" cy="190500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965176" y="4657427"/>
            <a:ext cx="4419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cycles</a:t>
            </a:r>
            <a:r>
              <a:rPr lang="en-US" sz="125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250" dirty="0">
                <a:solidFill>
                  <a:srgbClr val="6B748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every cycle-forming edge was skipped</a:t>
            </a:r>
            <a:endParaRPr lang="en-US" sz="1250" dirty="0"/>
          </a:p>
        </p:txBody>
      </p:sp>
      <p:pic>
        <p:nvPicPr>
          <p:cNvPr id="5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84" y="5207000"/>
            <a:ext cx="190495" cy="190500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965176" y="5190827"/>
            <a:ext cx="4419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towns reachable</a:t>
            </a:r>
            <a:r>
              <a:rPr lang="en-US" sz="125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250" dirty="0">
                <a:solidFill>
                  <a:srgbClr val="6B748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the tree spans the whole graph</a:t>
            </a:r>
            <a:endParaRPr lang="en-US" sz="1250" dirty="0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84" y="5740400"/>
            <a:ext cx="190495" cy="190500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965176" y="5724227"/>
            <a:ext cx="375275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cheapest possible</a:t>
            </a:r>
            <a:r>
              <a:rPr lang="en-US" sz="1250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250" dirty="0">
                <a:solidFill>
                  <a:srgbClr val="6B748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each kept edge was the cheapest safe choice</a:t>
            </a:r>
            <a:endParaRPr lang="en-US" sz="1250" dirty="0"/>
          </a:p>
        </p:txBody>
      </p:sp>
      <p:sp>
        <p:nvSpPr>
          <p:cNvPr id="58" name="Text 52"/>
          <p:cNvSpPr/>
          <p:nvPr/>
        </p:nvSpPr>
        <p:spPr>
          <a:xfrm>
            <a:off x="5079873" y="6280658"/>
            <a:ext cx="7111822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48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Green edges = the MST. Faded edges were examined and rejected (or never reached).</a:t>
            </a:r>
            <a:endParaRPr lang="en-US" sz="1100" dirty="0"/>
          </a:p>
        </p:txBody>
      </p:sp>
      <p:sp>
        <p:nvSpPr>
          <p:cNvPr id="59" name="Text 53"/>
          <p:cNvSpPr/>
          <p:nvPr/>
        </p:nvSpPr>
        <p:spPr>
          <a:xfrm>
            <a:off x="609585" y="6499870"/>
            <a:ext cx="201220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KRUSKAL'S ALGORITHM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9442214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 THE HOOD · DATA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58027"/>
            <a:ext cx="10915377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Inside the cycle check — Union-Find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34984" y="1346200"/>
            <a:ext cx="711182" cy="508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9903768" y="6509258"/>
            <a:ext cx="1621095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11822" y="6231235"/>
            <a:ext cx="4413140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48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α = inverse Ackermann — below 5 for any realistic input, so the middle row is effectively linear.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585" y="1758752"/>
            <a:ext cx="584185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loop iteration asks one question: are u and v in the same component? Union-Find answers it in nearly constant time.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5" y="2547239"/>
            <a:ext cx="228157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MAKE-SET(v)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87540" y="2561927"/>
            <a:ext cx="467348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vertex starts as its own parent — V sets of size 1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7200">
            <a:off x="609585" y="3200400"/>
            <a:ext cx="5841854" cy="12700"/>
          </a:xfrm>
          <a:prstGeom prst="rect">
            <a:avLst/>
          </a:prstGeom>
          <a:solidFill>
            <a:srgbClr val="232A37"/>
          </a:solidFill>
          <a:ln/>
        </p:spPr>
      </p:sp>
      <p:sp>
        <p:nvSpPr>
          <p:cNvPr id="11" name="Text 9"/>
          <p:cNvSpPr/>
          <p:nvPr/>
        </p:nvSpPr>
        <p:spPr>
          <a:xfrm>
            <a:off x="609585" y="3385439"/>
            <a:ext cx="220339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FIND(v)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87540" y="3400127"/>
            <a:ext cx="4006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climb parent pointers to the root; equal roots ⇒ same component ⇒ cycle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rot="7200">
            <a:off x="609585" y="4038600"/>
            <a:ext cx="5841854" cy="12700"/>
          </a:xfrm>
          <a:prstGeom prst="rect">
            <a:avLst/>
          </a:prstGeom>
          <a:solidFill>
            <a:srgbClr val="232A37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4223639"/>
            <a:ext cx="220339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UNION(u, v)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87540" y="4238327"/>
            <a:ext cx="467348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hang the smaller tree's root under the larger one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rot="7200">
            <a:off x="609585" y="4876800"/>
            <a:ext cx="5841854" cy="12700"/>
          </a:xfrm>
          <a:prstGeom prst="rect">
            <a:avLst/>
          </a:prstGeom>
          <a:solidFill>
            <a:srgbClr val="232A37"/>
          </a:solidFill>
          <a:ln/>
        </p:spPr>
      </p:sp>
      <p:sp>
        <p:nvSpPr>
          <p:cNvPr id="17" name="Text 15"/>
          <p:cNvSpPr/>
          <p:nvPr/>
        </p:nvSpPr>
        <p:spPr>
          <a:xfrm>
            <a:off x="609585" y="5882184"/>
            <a:ext cx="645143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48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 the diagram: every node's parent pointer aims upward, toward the root 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 rot="5389800">
            <a:off x="4616338" y="3968747"/>
            <a:ext cx="4394090" cy="12700"/>
          </a:xfrm>
          <a:prstGeom prst="rect">
            <a:avLst/>
          </a:prstGeom>
          <a:solidFill>
            <a:srgbClr val="2E3644"/>
          </a:solidFill>
          <a:ln/>
        </p:spPr>
      </p:sp>
      <p:sp>
        <p:nvSpPr>
          <p:cNvPr id="19" name="Text 17"/>
          <p:cNvSpPr/>
          <p:nvPr/>
        </p:nvSpPr>
        <p:spPr>
          <a:xfrm>
            <a:off x="7111822" y="1625600"/>
            <a:ext cx="502272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 POINTERS AFTER THE MERGES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18429000">
            <a:off x="7462254" y="2489200"/>
            <a:ext cx="1051494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21" name="Shape 19"/>
          <p:cNvSpPr/>
          <p:nvPr/>
        </p:nvSpPr>
        <p:spPr>
          <a:xfrm rot="3171000">
            <a:off x="8097238" y="2489200"/>
            <a:ext cx="1051494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22" name="Shape 20"/>
          <p:cNvSpPr/>
          <p:nvPr/>
        </p:nvSpPr>
        <p:spPr>
          <a:xfrm rot="17398800">
            <a:off x="7072235" y="3327400"/>
            <a:ext cx="891855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23" name="Shape 21"/>
          <p:cNvSpPr/>
          <p:nvPr/>
        </p:nvSpPr>
        <p:spPr>
          <a:xfrm rot="4020600">
            <a:off x="7393200" y="3327400"/>
            <a:ext cx="910408" cy="25400"/>
          </a:xfrm>
          <a:prstGeom prst="rect">
            <a:avLst/>
          </a:prstGeom>
          <a:solidFill>
            <a:srgbClr val="4A5265"/>
          </a:solidFill>
          <a:ln/>
        </p:spPr>
      </p:sp>
      <p:sp>
        <p:nvSpPr>
          <p:cNvPr id="24" name="Shape 22"/>
          <p:cNvSpPr/>
          <p:nvPr/>
        </p:nvSpPr>
        <p:spPr>
          <a:xfrm>
            <a:off x="8102397" y="1879600"/>
            <a:ext cx="406390" cy="4064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7605" y="1985363"/>
            <a:ext cx="1015975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2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67413" y="2717800"/>
            <a:ext cx="406390" cy="4064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62621" y="2823563"/>
            <a:ext cx="1015975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2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737381" y="2717800"/>
            <a:ext cx="406390" cy="4064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32589" y="2823563"/>
            <a:ext cx="1015975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2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62621" y="3556000"/>
            <a:ext cx="406390" cy="4064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7828" y="3661763"/>
            <a:ext cx="1015975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2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23004" y="3556000"/>
            <a:ext cx="406390" cy="4064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18212" y="3661763"/>
            <a:ext cx="1015975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2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448564" y="2717800"/>
            <a:ext cx="406390" cy="406400"/>
          </a:xfrm>
          <a:prstGeom prst="ellipse">
            <a:avLst/>
          </a:prstGeom>
          <a:solidFill>
            <a:srgbClr val="1B212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3771" y="2823563"/>
            <a:ext cx="1015975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2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11822" y="4070858"/>
            <a:ext cx="5079873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98A1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find(D) climbs D → B → A. F's root is itself — a separate set.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 rot="9600">
            <a:off x="7111822" y="4470400"/>
            <a:ext cx="4470288" cy="12700"/>
          </a:xfrm>
          <a:prstGeom prst="rect">
            <a:avLst/>
          </a:prstGeom>
          <a:solidFill>
            <a:srgbClr val="2E3644"/>
          </a:solidFill>
          <a:ln/>
        </p:spPr>
      </p:sp>
      <p:sp>
        <p:nvSpPr>
          <p:cNvPr id="38" name="Text 36"/>
          <p:cNvSpPr/>
          <p:nvPr/>
        </p:nvSpPr>
        <p:spPr>
          <a:xfrm>
            <a:off x="7111822" y="4648200"/>
            <a:ext cx="502272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IT COSTS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11822" y="4953000"/>
            <a:ext cx="33463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1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Sorting the edges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042174" y="4957763"/>
            <a:ext cx="24827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DEFF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O(E log E)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111822" y="5245100"/>
            <a:ext cx="33463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1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 finds + V−1 unions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042174" y="5249863"/>
            <a:ext cx="24827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DEFF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O(E · α(V))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111822" y="5537200"/>
            <a:ext cx="33463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running time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042174" y="5541963"/>
            <a:ext cx="24827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O(E log E)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111822" y="5829300"/>
            <a:ext cx="33463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1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 memory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042174" y="5834063"/>
            <a:ext cx="24827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DEFF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O(V)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09585" y="6499870"/>
            <a:ext cx="201220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KRUSKAL'S ALGORITHM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9442214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WRAP-UP · TRANSFER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58027"/>
            <a:ext cx="10915377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EDEFF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What to remember — and where it is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34984" y="1346200"/>
            <a:ext cx="711182" cy="508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9903768" y="6509258"/>
            <a:ext cx="1621095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585" y="1880997"/>
            <a:ext cx="501637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F2A93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0767" y="1892300"/>
            <a:ext cx="5124322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Greedy can be provably right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0767" y="2218134"/>
            <a:ext cx="4514737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cut property guarantees the cheapest crossing edge belongs to some MST — Kruskal only ever picks such edges.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7800">
            <a:off x="609585" y="2895600"/>
            <a:ext cx="5435464" cy="12700"/>
          </a:xfrm>
          <a:prstGeom prst="rect">
            <a:avLst/>
          </a:prstGeom>
          <a:solidFill>
            <a:srgbClr val="232A37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5" y="3100197"/>
            <a:ext cx="501637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F2A93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20767" y="3111500"/>
            <a:ext cx="5124322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 detection is the real work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0767" y="3437334"/>
            <a:ext cx="4514737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Union-Find answers 'same component?' in nearly constant time per edge.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389800">
            <a:off x="4260747" y="3968747"/>
            <a:ext cx="4394090" cy="12700"/>
          </a:xfrm>
          <a:prstGeom prst="rect">
            <a:avLst/>
          </a:prstGeom>
          <a:solidFill>
            <a:srgbClr val="2E3644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56231" y="2133600"/>
          <a:ext cx="4825879" cy="2219678"/>
        </p:xfrm>
        <a:graphic>
          <a:graphicData uri="http://schemas.openxmlformats.org/drawingml/2006/table">
            <a:tbl>
              <a:tblPr/>
              <a:tblGrid>
                <a:gridCol w="1640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19377" marB="11937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100" spc="100" dirty="0">
                          <a:solidFill>
                            <a:srgbClr val="F2A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KRUSKAL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19377" marB="11937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100" spc="100" dirty="0">
                          <a:solidFill>
                            <a:srgbClr val="F2A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PRIM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19377" marB="11937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8A1B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Grows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19377" marB="11937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 forest of edges</a:t>
                      </a:r>
                      <a:endParaRPr lang="en-US" sz="115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19377" marB="11937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one tree from a vertex</a:t>
                      </a:r>
                      <a:endParaRPr lang="en-US" sz="115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19377" marB="11937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8A1B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Needs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19377" marB="11937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Union-Find</a:t>
                      </a:r>
                      <a:endParaRPr lang="en-US" sz="115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19377" marB="11937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 priority queue</a:t>
                      </a:r>
                      <a:endParaRPr lang="en-US" sz="115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19377" marB="11937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8A1B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Shines on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19377" marB="11937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sparse graphs</a:t>
                      </a:r>
                      <a:endParaRPr lang="en-US" sz="115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19377" marB="11937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dense graphs</a:t>
                      </a:r>
                      <a:endParaRPr lang="en-US" sz="115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19377" marB="11937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6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8A1B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Time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25727" marB="12572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O(E log E)</a:t>
                      </a:r>
                      <a:endParaRPr lang="en-US" sz="115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25727" marB="12572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EDEFF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O(E log V)</a:t>
                      </a:r>
                      <a:endParaRPr lang="en-US" sz="115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38" marR="91438" marT="125727" marB="125727" anchor="ctr">
                    <a:lnL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A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5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 rot="7800">
            <a:off x="609585" y="4114800"/>
            <a:ext cx="5435464" cy="12700"/>
          </a:xfrm>
          <a:prstGeom prst="rect">
            <a:avLst/>
          </a:prstGeom>
          <a:solidFill>
            <a:srgbClr val="232A37"/>
          </a:solidFill>
          <a:ln/>
        </p:spPr>
      </p:sp>
      <p:sp>
        <p:nvSpPr>
          <p:cNvPr id="16" name="Text 13"/>
          <p:cNvSpPr/>
          <p:nvPr/>
        </p:nvSpPr>
        <p:spPr>
          <a:xfrm>
            <a:off x="609585" y="4319397"/>
            <a:ext cx="501637" cy="432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F2A93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1320767" y="4330700"/>
            <a:ext cx="5124322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Sorting dominates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1320767" y="4656534"/>
            <a:ext cx="5181470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running time O(E log E); everything else is almost linear.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56231" y="1854200"/>
            <a:ext cx="537831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kern="100" spc="300" dirty="0">
                <a:solidFill>
                  <a:srgbClr val="F2A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GOAL, DIFFERENT GREEDY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 rot="9000">
            <a:off x="6756231" y="4521200"/>
            <a:ext cx="4825879" cy="12700"/>
          </a:xfrm>
          <a:prstGeom prst="rect">
            <a:avLst/>
          </a:prstGeom>
          <a:solidFill>
            <a:srgbClr val="2E3644"/>
          </a:solidFill>
          <a:ln/>
        </p:spPr>
      </p:sp>
      <p:sp>
        <p:nvSpPr>
          <p:cNvPr id="21" name="Text 18"/>
          <p:cNvSpPr/>
          <p:nvPr/>
        </p:nvSpPr>
        <p:spPr>
          <a:xfrm>
            <a:off x="6756231" y="4778077"/>
            <a:ext cx="476873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C4CA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always produce a minimum spanning tree — pick the one that fits your graph's shape.</a:t>
            </a:r>
            <a:endParaRPr lang="en-US" sz="12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588000"/>
            <a:ext cx="228594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65176" y="5588000"/>
            <a:ext cx="273678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65176" y="5876604"/>
            <a:ext cx="222879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98A1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cables, roads, pipelines, chip layouts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 rot="5336400">
            <a:off x="2914577" y="5899150"/>
            <a:ext cx="685882" cy="12700"/>
          </a:xfrm>
          <a:prstGeom prst="rect">
            <a:avLst/>
          </a:prstGeom>
          <a:solidFill>
            <a:srgbClr val="232A37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314" y="5588000"/>
            <a:ext cx="228594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809905" y="5588000"/>
            <a:ext cx="273678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3809905" y="5876604"/>
            <a:ext cx="222879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98A1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split data into maximally-spaced groups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 rot="5336400">
            <a:off x="5759306" y="5899150"/>
            <a:ext cx="685882" cy="12700"/>
          </a:xfrm>
          <a:prstGeom prst="rect">
            <a:avLst/>
          </a:prstGeom>
          <a:solidFill>
            <a:srgbClr val="232A37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042" y="5588000"/>
            <a:ext cx="228594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654634" y="5588000"/>
            <a:ext cx="273678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654634" y="5876604"/>
            <a:ext cx="289552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98A1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segmenting images into regions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 rot="5336400">
            <a:off x="8604035" y="5899150"/>
            <a:ext cx="685882" cy="12700"/>
          </a:xfrm>
          <a:prstGeom prst="rect">
            <a:avLst/>
          </a:prstGeom>
          <a:solidFill>
            <a:srgbClr val="232A37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71" y="5588000"/>
            <a:ext cx="228594" cy="228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499362" y="5588000"/>
            <a:ext cx="269233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EF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Heuristics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9499362" y="5876604"/>
            <a:ext cx="222879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98A1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approximations for TSP and other hard problems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609585" y="6499870"/>
            <a:ext cx="201220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KRUSKAL'S ALGORITHM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1497</Words>
  <Application>Microsoft Office PowerPoint</Application>
  <PresentationFormat>Widescreen</PresentationFormat>
  <Paragraphs>288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Liter</vt:lpstr>
      <vt:lpstr>Archivo Black</vt:lpstr>
      <vt:lpstr>JetBrains Mono Bold</vt:lpstr>
      <vt:lpstr>Public Sans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Sejal</dc:creator>
  <cp:lastModifiedBy>bijwesejal.123@outlook.com</cp:lastModifiedBy>
  <cp:revision>2</cp:revision>
  <dcterms:created xsi:type="dcterms:W3CDTF">2026-10-18T08:59:41Z</dcterms:created>
  <dcterms:modified xsi:type="dcterms:W3CDTF">2026-10-18T09:05:22Z</dcterms:modified>
</cp:coreProperties>
</file>